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anthropic.com/engineering/claude-code-best-practices" TargetMode="External"/><Relationship Id="rId6" Type="http://schemas.openxmlformats.org/officeDocument/2006/relationships/hyperlink" Target="https://arxiv.org/pdf/2512.18925" TargetMode="External"/><Relationship Id="rId7" Type="http://schemas.openxmlformats.org/officeDocument/2006/relationships/hyperlink" Target="https://martinfowler.com/articles/exploring-gen-ai/context-engineering-coding-agents.html" TargetMode="External"/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anthropic.com/engineering/claude-code-best-practices" TargetMode="External"/><Relationship Id="rId5" Type="http://schemas.openxmlformats.org/officeDocument/2006/relationships/hyperlink" Target="https://arxiv.org/pdf/2512.18925" TargetMode="External"/><Relationship Id="rId6" Type="http://schemas.openxmlformats.org/officeDocument/2006/relationships/hyperlink" Target="https://martinfowler.com/articles/exploring-gen-ai/context-engineering-coding-agents.html" TargetMode="External"/><Relationship Id="rId7" Type="http://schemas.openxmlformats.org/officeDocument/2006/relationships/hyperlink" Target="https://www.faros.ai/blog/context-engineering-for-developers" TargetMode="External"/><Relationship Id="rId8" Type="http://schemas.openxmlformats.org/officeDocument/2006/relationships/hyperlink" Target="https://x.com/karpathy/status/1937902205765607626" TargetMode="External"/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173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Explore → Plan →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→ Verify Cycle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— Disciplined Vibe Coding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vibes to discipline — the workflow that separates hobbyists from engineers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Goker Ezberci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101: From Idea to Shipped Product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ABL Poll — Always Be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22960"/>
          </a:xfrm>
          <a:prstGeom prst="rect">
            <a:avLst>
              <a:gd name="adj" fmla="val 8889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of you tried adding a new feature after Week 3?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822960"/>
          </a:xfrm>
          <a:prstGeom prst="rect">
            <a:avLst>
              <a:gd name="adj" fmla="val 8889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AI “forget” your project’s patterns?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822960"/>
          </a:xfrm>
          <a:prstGeom prst="rect">
            <a:avLst>
              <a:gd name="adj" fmla="val 8889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3108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broke something that was working?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54864" cy="2286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79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DC4"/>
                </a:solidFill>
              </a:rPr>
              <a:t>If you answered yes to #2 or #3 — today’s lecture solves that.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We Are — Weeks 1–3 Recap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868680"/>
          </a:xfrm>
          <a:prstGeom prst="rect">
            <a:avLst>
              <a:gd name="adj" fmla="val 8421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77240"/>
            <a:ext cx="54864" cy="8686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503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850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Vibe Coding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+ first AI conversation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85039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environment, first AI-generated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868680"/>
          </a:xfrm>
          <a:prstGeom prst="rect">
            <a:avLst>
              <a:gd name="adj" fmla="val 8421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" cy="8686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019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1901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&amp; Planning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22402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PRD-First Development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90195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PRD with Non-Goals &amp; Agent Boundaries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8229600" cy="868680"/>
          </a:xfrm>
          <a:prstGeom prst="rect">
            <a:avLst>
              <a:gd name="adj" fmla="val 8421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80360"/>
            <a:ext cx="54864" cy="86868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535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2953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It Week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CI/CD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95351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prototype with public URL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8229600" cy="457200"/>
          </a:xfrm>
          <a:prstGeom prst="rect">
            <a:avLst>
              <a:gd name="adj" fmla="val 16000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6D"/>
                </a:solidFill>
              </a:rPr>
              <a:t>Today: </a:t>
            </a:r>
            <a:pPr indent="0" marL="0">
              <a:buNone/>
            </a:pPr>
            <a:r>
              <a:rPr lang="en-US" sz="1300" dirty="0">
                <a:solidFill>
                  <a:srgbClr val="E0E6FF"/>
                </a:solidFill>
              </a:rPr>
              <a:t>You have a working prototype. Now we make it </a:t>
            </a:r>
            <a:pPr indent="0" marL="0">
              <a:buNone/>
            </a:pPr>
            <a:r>
              <a:rPr lang="en-US" sz="1300" b="1" i="1" dirty="0">
                <a:solidFill>
                  <a:srgbClr val="FFE66D"/>
                </a:solidFill>
              </a:rPr>
              <a:t>maintainable.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Project Structure — GitHub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repo should look like by the end of today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754880" cy="3474720"/>
          </a:xfrm>
          <a:prstGeom prst="rect">
            <a:avLst>
              <a:gd name="adj" fmla="val 2105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60120"/>
            <a:ext cx="4480560" cy="3200400"/>
          </a:xfrm>
          <a:prstGeom prst="rect">
            <a:avLst>
              <a:gd name="adj" fmla="val 1714"/>
            </a:avLst>
          </a:prstGeom>
          <a:solidFill>
            <a:srgbClr val="080C2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14984"/>
            <a:ext cx="42976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your-project/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CLAUDE.md            ← NEW THIS WEEK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.cursorrules         ← Same content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GEMINI.md            ← Same content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package.json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A8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PRD.md             ← From Week 2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api/routes/        Route handlers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services/          Business logic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models/            DB schema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middleware/        Auth, errors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__tests__/         Mirrors src/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.github/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workflows/         ← CI/CD Week 3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.gitignore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94960" y="868680"/>
            <a:ext cx="3291840" cy="1051560"/>
          </a:xfrm>
          <a:prstGeom prst="rect">
            <a:avLst>
              <a:gd name="adj" fmla="val 6957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932688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42432" y="914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Files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1188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CLAUDE.md, .cursorrules, GEMINI.md — your AI’s “first day briefing.” Same content, different filenames per tool.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394960" y="2057400"/>
            <a:ext cx="3291840" cy="1051560"/>
          </a:xfrm>
          <a:prstGeom prst="rect">
            <a:avLst>
              <a:gd name="adj" fmla="val 6957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121408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42432" y="21031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from Week 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53212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product requirements document with Non-Goals and Agent Boundaries. AI reads this for project context.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394960" y="3246120"/>
            <a:ext cx="3291840" cy="1051560"/>
          </a:xfrm>
          <a:prstGeom prst="rect">
            <a:avLst>
              <a:gd name="adj" fmla="val 6957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310128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42432" y="3291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&amp; CI/CD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53212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__tests__/ mirrors your src/ structure. GitHub Actions run tests on every push.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4480560"/>
            <a:ext cx="54864" cy="22860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Don’t have this yet? That’s OK. </a:t>
            </a:r>
            <a:pPr indent="0" marL="0">
              <a:buNone/>
            </a:pPr>
            <a:r>
              <a:rPr lang="en-US" sz="1050" b="1" dirty="0">
                <a:solidFill>
                  <a:srgbClr val="FFE66D"/>
                </a:solidFill>
              </a:rPr>
              <a:t>Today’s lab will get you there.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We Use CLI, Not IDE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20040"/>
          </a:xfrm>
          <a:prstGeom prst="rect">
            <a:avLst>
              <a:gd name="adj" fmla="val 22857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13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03120" y="713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(Gemini CLI, Claude Code)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713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(Cursor, Windsurf, Copilot)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438912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43891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03120" y="10972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every prompt &amp; response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10972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diffs — click “Accept” blindly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600200"/>
            <a:ext cx="8229600" cy="438912"/>
          </a:xfrm>
          <a:prstGeom prst="rect">
            <a:avLst/>
          </a:prstGeom>
          <a:solidFill>
            <a:srgbClr val="0D1432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600200"/>
            <a:ext cx="54864" cy="43891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6002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3120" y="16002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control what AI reads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16002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picks files silently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103120"/>
            <a:ext cx="8229600" cy="438912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103120"/>
            <a:ext cx="54864" cy="438912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03120" y="21031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you to think about context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21031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Abstracts away the skill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8229600" cy="438912"/>
          </a:xfrm>
          <a:prstGeom prst="rect">
            <a:avLst/>
          </a:prstGeom>
          <a:solidFill>
            <a:srgbClr val="0D1432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2606040"/>
            <a:ext cx="54864" cy="43891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6060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03120" y="26060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(Gemini CLI)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26060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$20/month subscriptions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8229600" cy="438912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108960"/>
            <a:ext cx="54864" cy="438912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1089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Transferable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103120" y="31089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work in any tool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31089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to one IDE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611880"/>
            <a:ext cx="8229600" cy="438912"/>
          </a:xfrm>
          <a:prstGeom prst="rect">
            <a:avLst/>
          </a:prstGeom>
          <a:solidFill>
            <a:srgbClr val="0D1432">
              <a:alpha val="5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611880"/>
            <a:ext cx="54864" cy="43891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6118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103120" y="36118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Chains with git, npm, CI/CD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36118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Walled garden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206240"/>
            <a:ext cx="8229600" cy="548640"/>
          </a:xfrm>
          <a:prstGeom prst="rect">
            <a:avLst>
              <a:gd name="adj" fmla="val 13333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</a:rPr>
              <a:t>Learn CLI first → pick up any IDE in 30 minutes. The reverse doesn’t work.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We’re not anti-IDE. But learning the discipline first means you’ll use them better. Like learning manual before automatic.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 Objectives — Week 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77240"/>
          </a:xfrm>
          <a:prstGeom prst="rect">
            <a:avLst>
              <a:gd name="adj" fmla="val 941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7772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EPCV cycle to add features to existing codebases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777240"/>
          </a:xfrm>
          <a:prstGeom prst="rect">
            <a:avLst>
              <a:gd name="adj" fmla="val 941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54864" cy="7772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files (CLAUDE.md, .cursorrules, GEMINI.md) that provide persistent AI context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777240"/>
          </a:xfrm>
          <a:prstGeom prst="rect">
            <a:avLst>
              <a:gd name="adj" fmla="val 941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34640"/>
            <a:ext cx="54864" cy="77724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disciplined git workflow for AI-assisted development with atomic commits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777240"/>
          </a:xfrm>
          <a:prstGeom prst="rect">
            <a:avLst>
              <a:gd name="adj" fmla="val 941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49040"/>
            <a:ext cx="54864" cy="77724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code against quality criteria before committing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— Why Your Prototype Is Fragile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you add features to Week 3’s prototype: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2011680"/>
          </a:xfrm>
          <a:prstGeom prst="rect">
            <a:avLst>
              <a:gd name="adj" fmla="val 2727"/>
            </a:avLst>
          </a:prstGeom>
          <a:solidFill>
            <a:srgbClr val="080C2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52144"/>
            <a:ext cx="48463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You: "Add a search feature"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generates code that...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✗  Ignores your existing API patterns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✗  Uses a different CSS framework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✗  Duplicates a utility you already have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✗  Breaks the navigation component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0" y="1097280"/>
            <a:ext cx="3017520" cy="2011680"/>
          </a:xfrm>
          <a:prstGeom prst="rect">
            <a:avLst>
              <a:gd name="adj" fmla="val 3636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18872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06440" y="14630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</a:rPr>
              <a:t>The AI doesn’t know your codebase.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Every new conversation starts from zero. No memory of your patterns, architecture, or decisions.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291840"/>
            <a:ext cx="8229600" cy="1097280"/>
          </a:xfrm>
          <a:prstGeom prst="rect">
            <a:avLst>
              <a:gd name="adj" fmla="val 6667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832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3364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70% Wall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4360" y="3639312"/>
            <a:ext cx="7955280" cy="640080"/>
          </a:xfrm>
          <a:prstGeom prst="rect">
            <a:avLst>
              <a:gd name="adj" fmla="val 8571"/>
            </a:avLst>
          </a:prstGeom>
          <a:solidFill>
            <a:srgbClr val="080C20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369417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1–3: Get to 70% fast with AI                          ✓ DONE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4–12: Push past the wall with DISCIPLINE               ◀ YOU ARE HERE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4572000"/>
            <a:ext cx="54864" cy="2286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" y="45537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Today’s solution: </a:t>
            </a:r>
            <a:pPr indent="0" marL="0">
              <a:buNone/>
            </a:pPr>
            <a:r>
              <a:rPr lang="en-US" sz="1200" dirty="0">
                <a:solidFill>
                  <a:srgbClr val="E0E6FF"/>
                </a:solidFill>
              </a:rPr>
              <a:t>The Explore → Plan → Code → Verify cycle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 — The EPCV Cycle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disciplined workflow for AI-assisted development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49808"/>
          </a:xfrm>
          <a:prstGeom prst="rect">
            <a:avLst>
              <a:gd name="adj" fmla="val 9756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749808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before changing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1170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0" y="109728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code, check patterns, review git history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47088"/>
            <a:ext cx="164592" cy="1645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1965960"/>
            <a:ext cx="8229600" cy="749808"/>
          </a:xfrm>
          <a:prstGeom prst="rect">
            <a:avLst>
              <a:gd name="adj" fmla="val 9756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" y="1965960"/>
            <a:ext cx="54864" cy="749808"/>
          </a:xfrm>
          <a:prstGeom prst="rect">
            <a:avLst/>
          </a:prstGeom>
          <a:solidFill>
            <a:srgbClr val="A882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488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09728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before building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114800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029200" y="196596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AI plan — no code yet!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15768"/>
            <a:ext cx="164592" cy="1645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834640"/>
            <a:ext cx="8229600" cy="749808"/>
          </a:xfrm>
          <a:prstGeom prst="rect">
            <a:avLst>
              <a:gd name="adj" fmla="val 9756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7200" y="2834640"/>
            <a:ext cx="54864" cy="749808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01752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109728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step by step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114800" y="2907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029200" y="283464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step at a time, review each step</a:t>
            </a:r>
            <a:endParaRPr lang="en-US" sz="11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584448"/>
            <a:ext cx="164592" cy="1645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3703320"/>
            <a:ext cx="8229600" cy="749808"/>
          </a:xfrm>
          <a:prstGeom prst="rect">
            <a:avLst>
              <a:gd name="adj" fmla="val 9756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57200" y="3703320"/>
            <a:ext cx="54864" cy="749808"/>
          </a:xfrm>
          <a:prstGeom prst="rect">
            <a:avLst/>
          </a:prstGeom>
          <a:solidFill>
            <a:srgbClr val="66BB6A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886200"/>
            <a:ext cx="320040" cy="3200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97280" y="3776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600" dirty="0"/>
          </a:p>
        </p:txBody>
      </p:sp>
      <p:sp>
        <p:nvSpPr>
          <p:cNvPr id="32" name="Text 23"/>
          <p:cNvSpPr/>
          <p:nvPr/>
        </p:nvSpPr>
        <p:spPr>
          <a:xfrm>
            <a:off x="1097280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Test, review, commit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4114800" y="3776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5029200" y="370332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+ diff review + atomic commit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457200" y="4663440"/>
            <a:ext cx="54864" cy="22860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36" name="Text 27"/>
          <p:cNvSpPr/>
          <p:nvPr/>
        </p:nvSpPr>
        <p:spPr>
          <a:xfrm>
            <a:off x="640080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D"/>
                </a:solidFill>
              </a:rPr>
              <a:t>Golden rule: </a:t>
            </a:r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</a:rPr>
              <a:t>Never skip EXPLORE. It prevents 80% of bugs.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EXPLORE — Understand Before Changing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intelligence. Don’t modify anything.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31920" cy="1828800"/>
          </a:xfrm>
          <a:prstGeom prst="rect">
            <a:avLst>
              <a:gd name="adj" fmla="val 4000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115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EXPLORE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" y="138988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</a:rPr>
              <a:t>•  File structure &amp; architecture patterns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</a:rPr>
              <a:t>•  Existing tests and coverage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</a:rPr>
              <a:t>•  Recent git history for the area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</a:rPr>
              <a:t>•  Dependencies &amp; integration points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</a:rPr>
              <a:t>•  Naming conventions &amp; code style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1051560"/>
            <a:ext cx="4114800" cy="914400"/>
          </a:xfrm>
          <a:prstGeom prst="rect">
            <a:avLst>
              <a:gd name="adj" fmla="val 6000"/>
            </a:avLst>
          </a:prstGeom>
          <a:solidFill>
            <a:srgbClr val="080C20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1106424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Gemini CLI (FREE)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"Read src/auth/ directory.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the auth flow.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 modify anything."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0" y="2057400"/>
            <a:ext cx="4114800" cy="822960"/>
          </a:xfrm>
          <a:prstGeom prst="rect">
            <a:avLst>
              <a:gd name="adj" fmla="val 6667"/>
            </a:avLst>
          </a:prstGeom>
          <a:solidFill>
            <a:srgbClr val="080C20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211226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 Code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"Explore the project.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patterns does this use?"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" y="3063240"/>
            <a:ext cx="8229600" cy="1325880"/>
          </a:xfrm>
          <a:prstGeom prst="rect">
            <a:avLst>
              <a:gd name="adj" fmla="val 5517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27248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672" y="3108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EXPLORE Prevents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4360" y="33832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✗  AI generating code that duplicates existing functionality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✗  Breaking patterns the codebase already follows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✗  Missing integration points that cause runtime bugs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✗  Reinventing utilities that already exist in your project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4526280"/>
            <a:ext cx="54864" cy="2286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4507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Key: </a:t>
            </a:r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</a:rPr>
              <a:t>Tell the AI “don’t modify anything.” Without this, it starts writing code immediately.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— Design Before Building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plan. Verify it makes sense. THEN code.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31920" cy="2286000"/>
          </a:xfrm>
          <a:prstGeom prst="rect">
            <a:avLst>
              <a:gd name="adj" fmla="val 3200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115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PLAN INCLUDES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389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files need to change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new files are needed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 to handle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2432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to write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0120" y="2779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breaking changes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0" y="1051560"/>
            <a:ext cx="4114800" cy="2286000"/>
          </a:xfrm>
          <a:prstGeom prst="rect">
            <a:avLst>
              <a:gd name="adj" fmla="val 2400"/>
            </a:avLst>
          </a:prstGeom>
          <a:solidFill>
            <a:srgbClr val="080C20"/>
          </a:solidFill>
          <a:ln/>
        </p:spPr>
      </p:sp>
      <p:sp>
        <p:nvSpPr>
          <p:cNvPr id="18" name="Text 15"/>
          <p:cNvSpPr/>
          <p:nvPr/>
        </p:nvSpPr>
        <p:spPr>
          <a:xfrm>
            <a:off x="4663440" y="1106424"/>
            <a:ext cx="39319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Gemini CLI (FREE)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"Plan how to add search.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Files to change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Edge cases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Tests to write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 write code yet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just the plan."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57200" y="3520440"/>
            <a:ext cx="8229600" cy="868680"/>
          </a:xfrm>
          <a:prstGeom prst="rect">
            <a:avLst>
              <a:gd name="adj" fmla="val 8421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84448"/>
            <a:ext cx="164592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04672" y="3566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PLAN Prevents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94360" y="38221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E66D"/>
                </a:solidFill>
              </a:rPr>
              <a:t>Over-engineering </a:t>
            </a:r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(AI loves adding unrequested features)  •  </a:t>
            </a:r>
            <a:pPr indent="0" marL="0">
              <a:buNone/>
            </a:pPr>
            <a:r>
              <a:rPr lang="en-US" sz="1000" b="1" dirty="0">
                <a:solidFill>
                  <a:srgbClr val="FFE66D"/>
                </a:solidFill>
              </a:rPr>
              <a:t>Architectural mistakes </a:t>
            </a:r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(expensive to fix later)  •  </a:t>
            </a:r>
            <a:pPr indent="0" marL="0">
              <a:buNone/>
            </a:pPr>
            <a:r>
              <a:rPr lang="en-US" sz="1000" b="1" dirty="0">
                <a:solidFill>
                  <a:srgbClr val="FFE66D"/>
                </a:solidFill>
              </a:rPr>
              <a:t>Missing edge cases </a:t>
            </a:r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(production bugs)  •  </a:t>
            </a:r>
            <a:pPr indent="0" marL="0">
              <a:buNone/>
            </a:pPr>
            <a:r>
              <a:rPr lang="en-US" sz="1000" b="1" dirty="0">
                <a:solidFill>
                  <a:srgbClr val="FFE66D"/>
                </a:solidFill>
              </a:rPr>
              <a:t>Scope creep </a:t>
            </a:r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(the plan becomes your contract)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7200" y="4526280"/>
            <a:ext cx="54864" cy="22860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24" name="Text 20"/>
          <p:cNvSpPr/>
          <p:nvPr/>
        </p:nvSpPr>
        <p:spPr>
          <a:xfrm>
            <a:off x="640080" y="4507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82FF"/>
                </a:solidFill>
              </a:rPr>
              <a:t>Critical instruction: </a:t>
            </a:r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</a:rPr>
              <a:t>“Don’t write code yet — just the plan.” This is the most powerful AI directive.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— Implement Step by Step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one step at a time from the plan. Review each before proceeding.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31920" cy="2377440"/>
          </a:xfrm>
          <a:prstGeom prst="rect">
            <a:avLst>
              <a:gd name="adj" fmla="val 3077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15568"/>
            <a:ext cx="164592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4672" y="1097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— ALL AT ONCE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94360" y="1371600"/>
            <a:ext cx="3611880" cy="548640"/>
          </a:xfrm>
          <a:prstGeom prst="rect">
            <a:avLst>
              <a:gd name="adj" fmla="val 10000"/>
            </a:avLst>
          </a:prstGeom>
          <a:solidFill>
            <a:srgbClr val="080C20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" y="142646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"Implement the entire search feature"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94360" y="201168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✗ 500-line diff, impossible to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✗ Bugs hidden in massive changes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✗ Can’t revert one thing without losing 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✗ AI quality drops with unfocused context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0" y="1051560"/>
            <a:ext cx="3931920" cy="2377440"/>
          </a:xfrm>
          <a:prstGeom prst="rect">
            <a:avLst>
              <a:gd name="adj" fmla="val 3077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15568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02352" y="1097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— STEP BY STEP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892040" y="1371600"/>
            <a:ext cx="3611880" cy="1280160"/>
          </a:xfrm>
          <a:prstGeom prst="rect">
            <a:avLst>
              <a:gd name="adj" fmla="val 4286"/>
            </a:avLst>
          </a:prstGeom>
          <a:solidFill>
            <a:srgbClr val="080C20"/>
          </a:solidFill>
          <a:ln/>
        </p:spPr>
      </p:sp>
      <p:sp>
        <p:nvSpPr>
          <p:cNvPr id="15" name="Text 10"/>
          <p:cNvSpPr/>
          <p:nvPr/>
        </p:nvSpPr>
        <p:spPr>
          <a:xfrm>
            <a:off x="4983480" y="1426464"/>
            <a:ext cx="3429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"Step 1: Create search API"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Review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"Step 2: Add search UI component"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Review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"Step 3: Connect UI to API"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Review ✓  Done!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892040" y="27432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</a:rPr>
              <a:t>✓ Small diffs, easy to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</a:rPr>
              <a:t>✓ Know exactly which step broke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</a:rPr>
              <a:t>✓ Revert one step, keep the rest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" y="3611880"/>
            <a:ext cx="8229600" cy="685800"/>
          </a:xfrm>
          <a:prstGeom prst="rect">
            <a:avLst>
              <a:gd name="adj" fmla="val 10667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03320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4360" y="39136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The temptation is to let AI do everything at once. </a:t>
            </a:r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</a:rPr>
              <a:t>Resist. </a:t>
            </a:r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Small steps = fewer bugs. AI quality is </a:t>
            </a:r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</a:rPr>
              <a:t>higher</a:t>
            </a:r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 with focused context.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 — Test, Review, Commit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ships without verification. The AI is always confident — your job is to verify.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502920"/>
          </a:xfrm>
          <a:prstGeom prst="rect">
            <a:avLst>
              <a:gd name="adj" fmla="val 14545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515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1051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0" y="1051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broke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645920"/>
            <a:ext cx="8229600" cy="502920"/>
          </a:xfrm>
          <a:prstGeom prst="rect">
            <a:avLst>
              <a:gd name="adj" fmla="val 14545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6459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584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new tests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645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code is covered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240280"/>
            <a:ext cx="8229600" cy="502920"/>
          </a:xfrm>
          <a:prstGeom prst="rect">
            <a:avLst>
              <a:gd name="adj" fmla="val 14545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2402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0584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surprises in the diff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834640"/>
            <a:ext cx="8229600" cy="502920"/>
          </a:xfrm>
          <a:prstGeom prst="rect">
            <a:avLst>
              <a:gd name="adj" fmla="val 14545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8346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05840" y="2834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src/search/...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0" y="2834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specific files only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429000"/>
            <a:ext cx="8229600" cy="502920"/>
          </a:xfrm>
          <a:prstGeom prst="rect">
            <a:avLst>
              <a:gd name="adj" fmla="val 14545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34290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0584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"feat: ..."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29200" y="3429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commit history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160520"/>
            <a:ext cx="3931920" cy="594360"/>
          </a:xfrm>
          <a:prstGeom prst="rect">
            <a:avLst>
              <a:gd name="adj" fmla="val 12308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4160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NEVER: </a:t>
            </a:r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git add . — stages everything, including files you didn’t mean to commit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54880" y="4160520"/>
            <a:ext cx="3931920" cy="594360"/>
          </a:xfrm>
          <a:prstGeom prst="rect">
            <a:avLst>
              <a:gd name="adj" fmla="val 12308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92040" y="4160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BB6A"/>
                </a:solidFill>
              </a:rPr>
              <a:t>ALWAYS: </a:t>
            </a:r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git add [specific files] — you control what ships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EPCV Cycle — Complete Example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"password reset" using the full cycle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20240" cy="2560320"/>
          </a:xfrm>
          <a:prstGeom prst="rect">
            <a:avLst>
              <a:gd name="adj" fmla="val 3810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0972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• Read auth module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• Check token patterns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• Review email setup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2103120"/>
            <a:ext cx="146304" cy="1463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60320" y="1051560"/>
            <a:ext cx="1920240" cy="2560320"/>
          </a:xfrm>
          <a:prstGeom prst="rect">
            <a:avLst>
              <a:gd name="adj" fmla="val 3810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11556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80360" y="10972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2651760" y="141732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• 1. Reset-request endpoint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• 2. Token generation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• 3. Email integration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• 4. Reset-confirm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• 5. Write 4 tests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2103120"/>
            <a:ext cx="146304" cy="14630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663440" y="1051560"/>
            <a:ext cx="1920240" cy="2560320"/>
          </a:xfrm>
          <a:prstGeom prst="rect">
            <a:avLst>
              <a:gd name="adj" fmla="val 3810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1115568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83480" y="10972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4754880" y="141732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• Step 1 → Review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• Step 2 → Review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• Step 3 → Review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• Step 4 → Review ✓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2103120"/>
            <a:ext cx="146304" cy="14630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766560" y="1051560"/>
            <a:ext cx="1920240" cy="2560320"/>
          </a:xfrm>
          <a:prstGeom prst="rect">
            <a:avLst>
              <a:gd name="adj" fmla="val 3810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1115568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086600" y="10972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</p:txBody>
      </p:sp>
      <p:sp>
        <p:nvSpPr>
          <p:cNvPr id="22" name="Text 13"/>
          <p:cNvSpPr/>
          <p:nvPr/>
        </p:nvSpPr>
        <p:spPr>
          <a:xfrm>
            <a:off x="6858000" y="141732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• npm test (all pass)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• 4 new tests added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• git diff reviewed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• Atomic commit ✓</a:t>
            </a:r>
            <a:endParaRPr lang="en-US" sz="900" dirty="0"/>
          </a:p>
        </p:txBody>
      </p:sp>
      <p:sp>
        <p:nvSpPr>
          <p:cNvPr id="23" name="Shape 14"/>
          <p:cNvSpPr/>
          <p:nvPr/>
        </p:nvSpPr>
        <p:spPr>
          <a:xfrm>
            <a:off x="457200" y="3794760"/>
            <a:ext cx="8229600" cy="914400"/>
          </a:xfrm>
          <a:prstGeom prst="rect">
            <a:avLst>
              <a:gd name="adj" fmla="val 8000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594360" y="3840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COMPARISON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594360" y="4114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"Just vibe it"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2743200" y="4114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4114800" y="4114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bugs in production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594360" y="43708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EPCV cycle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2743200" y="4370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4114800" y="4370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 bugs (caught in VERIFY)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640080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extra minutes saves 3+ hours of debugging.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Anti-Patterns — What NOT to 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822960"/>
          </a:xfrm>
          <a:prstGeom prst="rect">
            <a:avLst>
              <a:gd name="adj" fmla="val 8889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82296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987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YOLO Pattern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12801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"Add all features at once" → 1000-line diff, impossible to review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8229600" cy="822960"/>
          </a:xfrm>
          <a:prstGeom prst="rect">
            <a:avLst>
              <a:gd name="adj" fmla="val 8889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874520"/>
            <a:ext cx="54864" cy="822960"/>
          </a:xfrm>
          <a:prstGeom prst="rect">
            <a:avLst/>
          </a:prstGeom>
          <a:solidFill>
            <a:srgbClr val="FFE66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1947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Copy-Paste Pattern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14400" y="2240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AI output → Paste → Ship. No understanding of what changed.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834640"/>
            <a:ext cx="8229600" cy="822960"/>
          </a:xfrm>
          <a:prstGeom prst="rect">
            <a:avLst>
              <a:gd name="adj" fmla="val 8889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" y="2834640"/>
            <a:ext cx="54864" cy="822960"/>
          </a:xfrm>
          <a:prstGeom prst="rect">
            <a:avLst/>
          </a:prstGeom>
          <a:solidFill>
            <a:srgbClr val="A882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2907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Infinite Conversation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914400" y="3200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messages about 5 different features → Context polluted, AI confused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794760"/>
            <a:ext cx="8229600" cy="822960"/>
          </a:xfrm>
          <a:prstGeom prst="rect">
            <a:avLst>
              <a:gd name="adj" fmla="val 8889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3794760"/>
            <a:ext cx="54864" cy="822960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31920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38679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"AI Said It's Fine"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14400" y="41605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correct?" → AI: "Yes!" — AI is always confident. Test it yourself.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54880"/>
            <a:ext cx="54864" cy="18288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4" name="Text 18"/>
          <p:cNvSpPr/>
          <p:nvPr/>
        </p:nvSpPr>
        <p:spPr>
          <a:xfrm>
            <a:off x="640080" y="4736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The fix for all of these: </a:t>
            </a:r>
            <a:pPr indent="0" marL="0">
              <a:buNone/>
            </a:pPr>
            <a:r>
              <a:rPr lang="en-US" sz="1100" b="1" dirty="0">
                <a:solidFill>
                  <a:srgbClr val="66BB6A"/>
                </a:solidFill>
              </a:rPr>
              <a:t>EPCV. Every feature. Every time.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 — Instruction Files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 at the project level — persistent AI context that travels with your code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65760"/>
          </a:xfrm>
          <a:prstGeom prst="rect">
            <a:avLst>
              <a:gd name="adj" fmla="val 20000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0" y="1051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root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solidFill>
            <a:srgbClr val="0D1432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.cursorrules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root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GEMINI.md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CLI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root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solidFill>
            <a:srgbClr val="0D1432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.github/copilot-instructions.md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7472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 folder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.windsurfrules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7472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Windsurf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root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8229600" cy="777240"/>
          </a:xfrm>
          <a:prstGeom prst="rect">
            <a:avLst>
              <a:gd name="adj" fmla="val 941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730752"/>
            <a:ext cx="164592" cy="16459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04672" y="3712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94360" y="39776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These files use the </a:t>
            </a:r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</a:rPr>
              <a:t>same principles</a:t>
            </a:r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. Learn one, adapt to any. The content is 90% the same across tools — only the format changes slightly.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Instruction Files — What, Not What, Where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2651760" cy="2743200"/>
          </a:xfrm>
          <a:prstGeom prst="rect">
            <a:avLst>
              <a:gd name="adj" fmla="val 2759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13232"/>
            <a:ext cx="54864" cy="27432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758952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749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ARE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" y="105156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 markdown file in your project root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Persistent context that auto-loads every conversation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Your project’s “brain” — rules, patterns, decisions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Version-controlled (lives in git, travels with code)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The bridge between your knowledge and AI’s output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46120" y="713232"/>
            <a:ext cx="2651760" cy="2743200"/>
          </a:xfrm>
          <a:prstGeom prst="rect">
            <a:avLst>
              <a:gd name="adj" fmla="val 2759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46120" y="713232"/>
            <a:ext cx="54864" cy="27432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758952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93592" y="749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ARE NOT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383280" y="105156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Not a prompt (auto-loads — you don’t paste it)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Not documentation (written FOR AI, not humans)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Not a tutorial (no explanations — just rules &amp; facts)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Not optional (without it, every chat starts from zero)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Not a one-time thing (evolves with your project)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035040" y="713232"/>
            <a:ext cx="2651760" cy="2743200"/>
          </a:xfrm>
          <a:prstGeom prst="rect">
            <a:avLst>
              <a:gd name="adj" fmla="val 2759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035040" y="713232"/>
            <a:ext cx="54864" cy="274320"/>
          </a:xfrm>
          <a:prstGeom prst="rect">
            <a:avLst/>
          </a:prstGeom>
          <a:solidFill>
            <a:srgbClr val="FFE66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758952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82512" y="749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GO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72200" y="1051560"/>
            <a:ext cx="2377440" cy="2286000"/>
          </a:xfrm>
          <a:prstGeom prst="rect">
            <a:avLst>
              <a:gd name="adj" fmla="val 2400"/>
            </a:avLst>
          </a:prstGeom>
          <a:solidFill>
            <a:srgbClr val="080C20"/>
          </a:solidFill>
          <a:ln/>
        </p:spPr>
      </p:sp>
      <p:sp>
        <p:nvSpPr>
          <p:cNvPr id="18" name="Text 13"/>
          <p:cNvSpPr/>
          <p:nvPr/>
        </p:nvSpPr>
        <p:spPr>
          <a:xfrm>
            <a:off x="6263640" y="1106424"/>
            <a:ext cx="21945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your-project/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CLAUDE.md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GEMINI.md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.cursorrules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.windsurfrules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.github/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copilot-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instructions.md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src/auth/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CLAUDE.md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(scoped rules)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57200" y="3611880"/>
            <a:ext cx="4754880" cy="594360"/>
          </a:xfrm>
          <a:prstGeom prst="rect">
            <a:avLst>
              <a:gd name="adj" fmla="val 12308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36118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</a:rPr>
              <a:t>One file. Project root. Auto-loaded. </a:t>
            </a:r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</a:rPr>
              <a:t>The AI reads it before every conversation — like a dev reading the README on their first day.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349240" y="3611880"/>
            <a:ext cx="3337560" cy="594360"/>
          </a:xfrm>
          <a:prstGeom prst="rect">
            <a:avLst>
              <a:gd name="adj" fmla="val 12308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486400" y="36118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82FF"/>
                </a:solidFill>
              </a:rPr>
              <a:t>Scoped files </a:t>
            </a:r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</a:rPr>
              <a:t>(e.g. src/auth/CLAUDE.md) override root rules for specific dirs. Start with one root file.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43434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5A6A8A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 Best Practices</a:t>
            </a:r>
            <a:pPr indent="0" marL="0">
              <a:buNone/>
            </a:pPr>
            <a:r>
              <a:rPr lang="en-US" sz="750" dirty="0">
                <a:solidFill>
                  <a:srgbClr val="5A6A8A"/>
                </a:solidFill>
              </a:rPr>
              <a:t> · </a:t>
            </a:r>
            <a:pPr indent="0" marL="0">
              <a:buNone/>
            </a:pPr>
            <a:r>
              <a:rPr lang="en-US" sz="750" u="sng" dirty="0">
                <a:solidFill>
                  <a:srgbClr val="5A6A8A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MSR ’26 “Beyond the Prompt”</a:t>
            </a:r>
            <a:pPr indent="0" marL="0">
              <a:buNone/>
            </a:pPr>
            <a:r>
              <a:rPr lang="en-US" sz="750" dirty="0">
                <a:solidFill>
                  <a:srgbClr val="5A6A8A"/>
                </a:solidFill>
              </a:rPr>
              <a:t> · </a:t>
            </a:r>
            <a:pPr indent="0" marL="0">
              <a:buNone/>
            </a:pPr>
            <a:r>
              <a:rPr lang="en-US" sz="750" u="sng" dirty="0">
                <a:solidFill>
                  <a:srgbClr val="5A6A8A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Martin Fowler / Thoughtworks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6 Sections Every Instruction File Needs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411480"/>
          </a:xfrm>
          <a:prstGeom prst="rect">
            <a:avLst>
              <a:gd name="adj" fmla="val 17778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7665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E6FF"/>
                </a:solidFill>
              </a:rPr>
              <a:t>“Context engineering is the delicate art of filling the context window with just the right information.”</a:t>
            </a:r>
            <a:pPr indent="0" marL="0">
              <a:buNone/>
            </a:pPr>
            <a:r>
              <a:rPr lang="en-US" sz="900" b="1" dirty="0">
                <a:solidFill>
                  <a:srgbClr val="A882FF"/>
                </a:solidFill>
              </a:rPr>
              <a:t>  — Andrej Karpathy, 2025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029200" cy="402336"/>
          </a:xfrm>
          <a:prstGeom prst="rect">
            <a:avLst>
              <a:gd name="adj" fmla="val 1818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54864" cy="40233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070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2070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06040" y="120700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build, test, deploy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82496"/>
            <a:ext cx="5029200" cy="402336"/>
          </a:xfrm>
          <a:prstGeom prst="rect">
            <a:avLst>
              <a:gd name="adj" fmla="val 1818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82496"/>
            <a:ext cx="54864" cy="40233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6824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168249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06040" y="16824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code lives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57984"/>
            <a:ext cx="5029200" cy="402336"/>
          </a:xfrm>
          <a:prstGeom prst="rect">
            <a:avLst>
              <a:gd name="adj" fmla="val 1818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57984"/>
            <a:ext cx="54864" cy="402336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5798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215798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06040" y="215798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already chosen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33472"/>
            <a:ext cx="5029200" cy="402336"/>
          </a:xfrm>
          <a:prstGeom prst="rect">
            <a:avLst>
              <a:gd name="adj" fmla="val 1818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633472"/>
            <a:ext cx="54864" cy="402336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63347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26334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06040" y="2633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conventions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5029200" cy="402336"/>
          </a:xfrm>
          <a:prstGeom prst="rect">
            <a:avLst>
              <a:gd name="adj" fmla="val 1818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108960"/>
            <a:ext cx="54864" cy="40233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1089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31089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06040" y="31089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framework &amp; rules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584448"/>
            <a:ext cx="5029200" cy="402336"/>
          </a:xfrm>
          <a:prstGeom prst="rect">
            <a:avLst>
              <a:gd name="adj" fmla="val 1818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584448"/>
            <a:ext cx="54864" cy="40233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5844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4400" y="35844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BOUNDARIES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606040" y="35844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/ Never / Ask First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0" y="1207008"/>
            <a:ext cx="3017520" cy="1280160"/>
          </a:xfrm>
          <a:prstGeom prst="rect">
            <a:avLst>
              <a:gd name="adj" fmla="val 5714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80160"/>
            <a:ext cx="164592" cy="16459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016752" y="1261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Matters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8064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at top, Boundaries at bottom — where AI attention peaks.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806440" y="1920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Faros AI 5-Layer Context Strategy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669280" y="2606040"/>
            <a:ext cx="3017520" cy="1280160"/>
          </a:xfrm>
          <a:prstGeom prst="rect">
            <a:avLst>
              <a:gd name="adj" fmla="val 5714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79192"/>
            <a:ext cx="164592" cy="164592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6016752" y="2660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Short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5806440" y="2907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&lt;60 lines (HumanLayer) to &lt;300 lines (Anthropic). Shorter files = higher AI compliance.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5806440" y="33192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Best Practices (2026)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457200" y="42062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8A"/>
                </a:solidFill>
              </a:rPr>
              <a:t>Sources: </a:t>
            </a:r>
            <a:pPr indent="0" marL="0">
              <a:buNone/>
            </a:pPr>
            <a:r>
              <a:rPr lang="en-US" sz="750" u="sng" dirty="0">
                <a:solidFill>
                  <a:srgbClr val="5A6A8A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 Best Practices (2026)</a:t>
            </a:r>
            <a:pPr indent="0" marL="0">
              <a:buNone/>
            </a:pPr>
            <a:r>
              <a:rPr lang="en-US" sz="750" dirty="0">
                <a:solidFill>
                  <a:srgbClr val="5A6A8A"/>
                </a:solidFill>
              </a:rPr>
              <a:t> · </a:t>
            </a:r>
            <a:pPr indent="0" marL="0">
              <a:buNone/>
            </a:pPr>
            <a:r>
              <a:rPr lang="en-US" sz="750" u="sng" dirty="0">
                <a:solidFill>
                  <a:srgbClr val="5A6A8A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MSR ’26 “Beyond the Prompt”</a:t>
            </a:r>
            <a:pPr indent="0" marL="0">
              <a:buNone/>
            </a:pPr>
            <a:r>
              <a:rPr lang="en-US" sz="750" dirty="0">
                <a:solidFill>
                  <a:srgbClr val="5A6A8A"/>
                </a:solidFill>
              </a:rPr>
              <a:t> · </a:t>
            </a:r>
            <a:pPr indent="0" marL="0">
              <a:buNone/>
            </a:pPr>
            <a:r>
              <a:rPr lang="en-US" sz="750" u="sng" dirty="0">
                <a:solidFill>
                  <a:srgbClr val="5A6A8A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Martin Fowler / Thoughtworks</a:t>
            </a:r>
            <a:pPr indent="0" marL="0">
              <a:buNone/>
            </a:pPr>
            <a:r>
              <a:rPr lang="en-US" sz="750" dirty="0">
                <a:solidFill>
                  <a:srgbClr val="5A6A8A"/>
                </a:solidFill>
              </a:rPr>
              <a:t> · </a:t>
            </a:r>
            <a:pPr indent="0" marL="0">
              <a:buNone/>
            </a:pPr>
            <a:r>
              <a:rPr lang="en-US" sz="750" u="sng" dirty="0">
                <a:solidFill>
                  <a:srgbClr val="5A6A8A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Faros AI 5-Layer Strategy</a:t>
            </a:r>
            <a:pPr indent="0" marL="0">
              <a:buNone/>
            </a:pPr>
            <a:r>
              <a:rPr lang="en-US" sz="750" dirty="0">
                <a:solidFill>
                  <a:srgbClr val="5A6A8A"/>
                </a:solidFill>
              </a:rPr>
              <a:t> · </a:t>
            </a:r>
            <a:pPr indent="0" marL="0">
              <a:buNone/>
            </a:pPr>
            <a:r>
              <a:rPr lang="en-US" sz="750" u="sng" dirty="0">
                <a:solidFill>
                  <a:srgbClr val="5A6A8A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Karpathy on Context Engineering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Real CLAUDE.md — TaskFlow Project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lines. Under the 60-line sweet spot. Every line earns its place.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651760" cy="1874520"/>
          </a:xfrm>
          <a:prstGeom prst="rect">
            <a:avLst>
              <a:gd name="adj" fmla="val 390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77240"/>
            <a:ext cx="54864" cy="2560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8046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Commands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069848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          # Start dev server (port 3000)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             # Run Vitest test suite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        # Production build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lint         # ESLint + Prettier check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db:migrate   # Run Prisma migrations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651760" cy="1874520"/>
          </a:xfrm>
          <a:prstGeom prst="rect">
            <a:avLst>
              <a:gd name="adj" fmla="val 390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777240"/>
            <a:ext cx="54864" cy="25603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3355848" y="8046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Structure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37560" y="1069848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api/routes/    # Route handlers (one file per resource)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services/      # Business logic (no HTTP here)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models/        # Prisma schema + generated types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middleware/    # Auth, validation, error handling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__tests__/     # Mirrors src/ structure exactly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035040" y="777240"/>
            <a:ext cx="2651760" cy="1874520"/>
          </a:xfrm>
          <a:prstGeom prst="rect">
            <a:avLst>
              <a:gd name="adj" fmla="val 390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777240"/>
            <a:ext cx="54864" cy="256032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44768" y="8046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Decisions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26480" y="1069848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Express.js + TypeScript (strict mode)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via Prisma ORM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 tokens in httpOnly cookies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Zod schemas for all inputs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2651760" cy="1874520"/>
          </a:xfrm>
          <a:prstGeom prst="rect">
            <a:avLst>
              <a:gd name="adj" fmla="val 390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743200"/>
            <a:ext cx="54864" cy="256032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7706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Style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035808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Named exports only (no default exports)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Async/await everywhere (no .then() chains)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 returns for guard clauses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function length: 30 lines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naming: kebab-case (user-service.ts)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46120" y="2743200"/>
            <a:ext cx="2651760" cy="1874520"/>
          </a:xfrm>
          <a:prstGeom prst="rect">
            <a:avLst>
              <a:gd name="adj" fmla="val 390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743200"/>
            <a:ext cx="54864" cy="25603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2" name="Text 20"/>
          <p:cNvSpPr/>
          <p:nvPr/>
        </p:nvSpPr>
        <p:spPr>
          <a:xfrm>
            <a:off x="3355848" y="27706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Testing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3035808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Framework: Vitest | Coverage: 80% minimum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Location: __tests__/ mirroring src/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Pattern: arrange → act → assert (AAA)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 external services, never mock own code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035040" y="2743200"/>
            <a:ext cx="2651760" cy="1874520"/>
          </a:xfrm>
          <a:prstGeom prst="rect">
            <a:avLst>
              <a:gd name="adj" fmla="val 3902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743200"/>
            <a:ext cx="54864" cy="2560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6144768" y="27706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Boundaries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3035808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ALWAYS: Run tests, Use Prisma, Validate w/ Zod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NEVER: Hardcode secrets, Use any, Skip errors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ASK: New deps, Schema changes, Auth changes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Each Section Does for the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→ With: the difference one instruction file makes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0"/>
          </a:xfrm>
          <a:prstGeom prst="rect">
            <a:avLst>
              <a:gd name="adj" fmla="val 26667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103120" y="822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WITHOUT instruction file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0" y="822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WITH instruction file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8229600" cy="475488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170432"/>
            <a:ext cx="54864" cy="4754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7043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COMMANDS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03120" y="117043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guesses npm start (wrong), can’t run tests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117043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runs npm test before every commit, catches bugs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719072"/>
            <a:ext cx="8229600" cy="475488"/>
          </a:xfrm>
          <a:prstGeom prst="rect">
            <a:avLst/>
          </a:prstGeom>
          <a:solidFill>
            <a:srgbClr val="0D1432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719072"/>
            <a:ext cx="54864" cy="47548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7190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STRUCTURE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03120" y="171907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creates /helpers/auth.js (wrong location, .js)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171907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creates /src/middleware/auth.ts (correct path)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67712"/>
            <a:ext cx="8229600" cy="475488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267712"/>
            <a:ext cx="54864" cy="475488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2677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DECISIONS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03120" y="22677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suggests MongoDB, writes raw SQL queries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22677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uses Prisma ORM, matches your JWT pattern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816352"/>
            <a:ext cx="8229600" cy="475488"/>
          </a:xfrm>
          <a:prstGeom prst="rect">
            <a:avLst/>
          </a:prstGeom>
          <a:solidFill>
            <a:srgbClr val="0D1432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816352"/>
            <a:ext cx="54864" cy="475488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8163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STYLE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8163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default class + .then() chains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28163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const createUser = async () + early returns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364992"/>
            <a:ext cx="8229600" cy="475488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364992"/>
            <a:ext cx="54864" cy="475488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36499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TESTING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103120" y="336499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 tests (wrong framework), random locations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336499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in __tests__/, AAA pattern, 80% coverage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913632"/>
            <a:ext cx="8229600" cy="475488"/>
          </a:xfrm>
          <a:prstGeom prst="rect">
            <a:avLst/>
          </a:prstGeom>
          <a:solidFill>
            <a:srgbClr val="0D1432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913632"/>
            <a:ext cx="54864" cy="47548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91363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BOUNDARIES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103120" y="391363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Hardcodes DB URL, adds 3 deps, skips errors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0" y="391363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before deps, never hardcodes, handles errors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526280"/>
            <a:ext cx="54864" cy="22860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507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AI cannot infer boundaries from omission. </a:t>
            </a:r>
            <a:pPr indent="0" marL="0">
              <a:buNone/>
            </a:pPr>
            <a:r>
              <a:rPr lang="en-US" sz="1050" b="1" dirty="0">
                <a:solidFill>
                  <a:srgbClr val="FFE66D"/>
                </a:solidFill>
              </a:rPr>
              <a:t>What you don’t say, AI will invent.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Boundaries — The Most Important Section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categories. AI cannot infer boundaries from omission — what you don’t say, AI will invent.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06040" cy="2926080"/>
          </a:xfrm>
          <a:prstGeom prst="rect">
            <a:avLst>
              <a:gd name="adj" fmla="val 2807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15568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1097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" y="1325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Non-negotiable rules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2331720" cy="1463040"/>
          </a:xfrm>
          <a:prstGeom prst="rect">
            <a:avLst>
              <a:gd name="adj" fmla="val 3750"/>
            </a:avLst>
          </a:prstGeom>
          <a:solidFill>
            <a:srgbClr val="080C2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27632"/>
            <a:ext cx="21488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Run npm test before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committing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Use Prisma for all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 queries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Validate input with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Zod schemas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Log errors with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structured JSON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06040" cy="2926080"/>
          </a:xfrm>
          <a:prstGeom prst="rect">
            <a:avLst>
              <a:gd name="adj" fmla="val 2807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115568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1097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83280" y="1325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stops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383280" y="1572768"/>
            <a:ext cx="2331720" cy="1463040"/>
          </a:xfrm>
          <a:prstGeom prst="rect">
            <a:avLst>
              <a:gd name="adj" fmla="val 3750"/>
            </a:avLst>
          </a:prstGeom>
          <a:solidFill>
            <a:srgbClr val="080C20"/>
          </a:solidFill>
          <a:ln/>
        </p:spPr>
      </p:sp>
      <p:sp>
        <p:nvSpPr>
          <p:cNvPr id="15" name="Text 11"/>
          <p:cNvSpPr/>
          <p:nvPr/>
        </p:nvSpPr>
        <p:spPr>
          <a:xfrm>
            <a:off x="3474720" y="1627632"/>
            <a:ext cx="21488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Hardcode API keys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Use `any` type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Write SQL directly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(use Prisma)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Skip error handling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Commit without tests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6035040" y="1051560"/>
            <a:ext cx="2651760" cy="2926080"/>
          </a:xfrm>
          <a:prstGeom prst="rect">
            <a:avLst>
              <a:gd name="adj" fmla="val 2759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115568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1097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FIRST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172200" y="1325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human decision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172200" y="1572768"/>
            <a:ext cx="2377440" cy="1463040"/>
          </a:xfrm>
          <a:prstGeom prst="rect">
            <a:avLst>
              <a:gd name="adj" fmla="val 3750"/>
            </a:avLst>
          </a:prstGeom>
          <a:solidFill>
            <a:srgbClr val="080C20"/>
          </a:solidFill>
          <a:ln/>
        </p:spPr>
      </p:sp>
      <p:sp>
        <p:nvSpPr>
          <p:cNvPr id="21" name="Text 16"/>
          <p:cNvSpPr/>
          <p:nvPr/>
        </p:nvSpPr>
        <p:spPr>
          <a:xfrm>
            <a:off x="6263640" y="1627632"/>
            <a:ext cx="21945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Adding new dependencies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Changing database schema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Modifying auth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middleware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Changing API response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formats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457200" y="4160520"/>
            <a:ext cx="54864" cy="22860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" y="4142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This connects to Week 1’s PRD Non-Goals. </a:t>
            </a:r>
            <a:pPr indent="0" marL="0">
              <a:buNone/>
            </a:pPr>
            <a:r>
              <a:rPr lang="en-US" sz="1100" b="1" dirty="0">
                <a:solidFill>
                  <a:srgbClr val="A882FF"/>
                </a:solidFill>
              </a:rPr>
              <a:t>Same principle: AI can’t infer what you DON’T want.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&amp; After — Instruction Files in Action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3931920" cy="3246120"/>
          </a:xfrm>
          <a:prstGeom prst="rect">
            <a:avLst>
              <a:gd name="adj" fmla="val 2254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804672"/>
            <a:ext cx="164592" cy="1645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7863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INSTRUCTION FILE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94360" y="1051560"/>
            <a:ext cx="3611880" cy="457200"/>
          </a:xfrm>
          <a:prstGeom prst="rect">
            <a:avLst>
              <a:gd name="adj" fmla="val 12000"/>
            </a:avLst>
          </a:prstGeom>
          <a:solidFill>
            <a:srgbClr val="080C20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10642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"Add a new API endpoint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user profiles"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" y="160020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✗ Uses Express.js (you use Fastify)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✗ MySQL queries (you use Prisma)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✗ No error handling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✗ No tests generated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3–5 iterations to fix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731520"/>
            <a:ext cx="3931920" cy="3246120"/>
          </a:xfrm>
          <a:prstGeom prst="rect">
            <a:avLst>
              <a:gd name="adj" fmla="val 2254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804672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02352" y="7863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INSTRUCTION FILE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892040" y="1051560"/>
            <a:ext cx="3611880" cy="457200"/>
          </a:xfrm>
          <a:prstGeom prst="rect">
            <a:avLst>
              <a:gd name="adj" fmla="val 12000"/>
            </a:avLst>
          </a:prstGeom>
          <a:solidFill>
            <a:srgbClr val="080C20"/>
          </a:solidFill>
          <a:ln/>
        </p:spPr>
      </p:sp>
      <p:sp>
        <p:nvSpPr>
          <p:cNvPr id="13" name="Text 9"/>
          <p:cNvSpPr/>
          <p:nvPr/>
        </p:nvSpPr>
        <p:spPr>
          <a:xfrm>
            <a:off x="4983480" y="110642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"Add a new API endpoint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user profiles"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892040" y="160020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</a:rPr>
              <a:t>✓ Uses Fastify (matches your stack)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</a:rPr>
              <a:t>✓ Prisma ORM (follows your pattern)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</a:rPr>
              <a:t>✓ Zod validation (your rule)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</a:rPr>
              <a:t>✓ Error handling (your boundary)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</a:rPr>
              <a:t>✓ Vitest tests generated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6BB6A"/>
                </a:solidFill>
              </a:rPr>
              <a:t>1 iteration. Done.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4160520"/>
            <a:ext cx="8229600" cy="594360"/>
          </a:xfrm>
          <a:prstGeom prst="rect">
            <a:avLst>
              <a:gd name="adj" fmla="val 12308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233672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4360" y="4434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The instruction file saved 3 iterations × 5 min = </a:t>
            </a:r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</a:rPr>
              <a:t>15 minutes per feature</a:t>
            </a:r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. Over a project, that’s hours.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 — Git Workflows for AI Development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3931920" cy="2240280"/>
          </a:xfrm>
          <a:prstGeom prst="rect">
            <a:avLst>
              <a:gd name="adj" fmla="val 3265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046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— MIXED CONVERSATIONS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3611880" cy="1280160"/>
          </a:xfrm>
          <a:prstGeom prst="rect">
            <a:avLst>
              <a:gd name="adj" fmla="val 4286"/>
            </a:avLst>
          </a:prstGeom>
          <a:solidFill>
            <a:srgbClr val="080C2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43584"/>
            <a:ext cx="3429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conversation, multiple features: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"Add login page"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"Also add dark mode"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"And fix that bug"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Context polluted, AI confused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0" y="731520"/>
            <a:ext cx="3931920" cy="2240280"/>
          </a:xfrm>
          <a:prstGeom prst="rect">
            <a:avLst>
              <a:gd name="adj" fmla="val 3265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8046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— FOCUSED CONVERSATIONS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92040" y="1188720"/>
            <a:ext cx="3611880" cy="1280160"/>
          </a:xfrm>
          <a:prstGeom prst="rect">
            <a:avLst>
              <a:gd name="adj" fmla="val 4286"/>
            </a:avLst>
          </a:prstGeom>
          <a:solidFill>
            <a:srgbClr val="080C2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43584"/>
            <a:ext cx="3429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conversation per feature: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 1: Login → commit → done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 2: Dark mode → commit → done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 3: Bug fix → commit → done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Clean context = better quality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8229600" cy="1554480"/>
          </a:xfrm>
          <a:prstGeom prst="rect">
            <a:avLst>
              <a:gd name="adj" fmla="val 4706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18688"/>
            <a:ext cx="164592" cy="1645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4672" y="3200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STRATEGY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" y="3474720"/>
            <a:ext cx="4389120" cy="1097280"/>
          </a:xfrm>
          <a:prstGeom prst="rect">
            <a:avLst>
              <a:gd name="adj" fmla="val 5000"/>
            </a:avLst>
          </a:prstGeom>
          <a:solidFill>
            <a:srgbClr val="080C20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529584"/>
            <a:ext cx="4206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(protected — never push directly)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feat/login-page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feat/dark-mode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fix/navigation-bug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chore/update-deps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303520" y="34747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</a:rPr>
              <a:t>Each branch = one feature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</a:rPr>
              <a:t>= one conversation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</a:rPr>
              <a:t>= one atomic commit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Commit Message Convention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history helps you AND the AI understand what changed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731520"/>
          </a:xfrm>
          <a:prstGeom prst="rect">
            <a:avLst>
              <a:gd name="adj" fmla="val 7500"/>
            </a:avLst>
          </a:prstGeom>
          <a:solidFill>
            <a:srgbClr val="080C2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0642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type(scope): short description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Longer description if needed.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65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add search endpoint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solidFill>
            <a:srgbClr val="0D1432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prevent duplicate login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tests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test: add auth edge cases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solidFill>
            <a:srgbClr val="0D1432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cleanup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refactor: extract validation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 update API readme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solidFill>
            <a:srgbClr val="0D1432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023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2880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Build/deps/CI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4048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chore: upgrade vitest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1051560"/>
            <a:ext cx="3931920" cy="731520"/>
          </a:xfrm>
          <a:prstGeom prst="rect">
            <a:avLst>
              <a:gd name="adj" fmla="val 7500"/>
            </a:avLst>
          </a:prstGeom>
          <a:solidFill>
            <a:srgbClr val="080C20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10642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"feat: add search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Search API with pagination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Tests: 3 new, all passing"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Review Checklist for AI-Generated Code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committing ANY AI-generated code — the AI is always confident. Your job is to verify.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"/>
          </a:xfrm>
          <a:prstGeom prst="rect">
            <a:avLst>
              <a:gd name="adj" fmla="val 22857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01752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6072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393192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39319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37160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compile/run?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17520" y="1371600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invalid syntax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137160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810512"/>
            <a:ext cx="8229600" cy="393192"/>
          </a:xfrm>
          <a:prstGeom prst="rect">
            <a:avLst/>
          </a:prstGeom>
          <a:solidFill>
            <a:srgbClr val="0D1432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810512"/>
            <a:ext cx="54864" cy="39319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81051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existing tests pass?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1810512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breaks existing features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181051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249424"/>
            <a:ext cx="8229600" cy="393192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249424"/>
            <a:ext cx="54864" cy="393192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249424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values?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17520" y="2249424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loves magic numbers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224942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"TODO|FIXME"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688336"/>
            <a:ext cx="8229600" cy="393192"/>
          </a:xfrm>
          <a:prstGeom prst="rect">
            <a:avLst/>
          </a:prstGeom>
          <a:solidFill>
            <a:srgbClr val="0D1432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688336"/>
            <a:ext cx="54864" cy="393192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68833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present?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17520" y="2688336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often skips error cases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2688336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catch blocks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127248"/>
            <a:ext cx="8229600" cy="393192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127248"/>
            <a:ext cx="54864" cy="39319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127248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correct?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017520" y="3127248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loose types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312724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for "any"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566160"/>
            <a:ext cx="8229600" cy="393192"/>
          </a:xfrm>
          <a:prstGeom prst="rect">
            <a:avLst/>
          </a:prstGeom>
          <a:solidFill>
            <a:srgbClr val="0D1432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566160"/>
            <a:ext cx="54864" cy="39319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56616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Over-engineered?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017520" y="3566160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adds unrequested features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60720" y="356616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to plan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4005072"/>
            <a:ext cx="8229600" cy="393192"/>
          </a:xfrm>
          <a:prstGeom prst="rect">
            <a:avLst/>
          </a:prstGeom>
          <a:solidFill>
            <a:srgbClr val="0D1432">
              <a:alpha val="7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4005072"/>
            <a:ext cx="54864" cy="39319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400507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issues?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017520" y="4005072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injection, XSS, secrets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60720" y="400507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inputs/outputs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Exercise — 30 Minutes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EPCV cycle to add ONE new feature to your Week 3 prototype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21792"/>
          </a:xfrm>
          <a:prstGeom prst="rect">
            <a:avLst>
              <a:gd name="adj" fmla="val 11765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21792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978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064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0–5 min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0" y="11064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3624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instruction file + feature branch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764792"/>
            <a:ext cx="8229600" cy="621792"/>
          </a:xfrm>
          <a:prstGeom prst="rect">
            <a:avLst>
              <a:gd name="adj" fmla="val 11765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764792"/>
            <a:ext cx="54864" cy="621792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1109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18196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5–10 min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286000" y="1819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51560" y="207568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to explore your codebase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478024"/>
            <a:ext cx="8229600" cy="621792"/>
          </a:xfrm>
          <a:prstGeom prst="rect">
            <a:avLst>
              <a:gd name="adj" fmla="val 11765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2478024"/>
            <a:ext cx="54864" cy="621792"/>
          </a:xfrm>
          <a:prstGeom prst="rect">
            <a:avLst/>
          </a:prstGeom>
          <a:solidFill>
            <a:srgbClr val="A882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2432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25328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10–15 min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286000" y="2532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51560" y="27889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AI plan (no code yet!)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191256"/>
            <a:ext cx="8229600" cy="621792"/>
          </a:xfrm>
          <a:prstGeom prst="rect">
            <a:avLst>
              <a:gd name="adj" fmla="val 11765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200" y="3191256"/>
            <a:ext cx="54864" cy="621792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33756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32461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15–25 min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2286000" y="3246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51560" y="350215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one step at a time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3904488"/>
            <a:ext cx="8229600" cy="621792"/>
          </a:xfrm>
          <a:prstGeom prst="rect">
            <a:avLst>
              <a:gd name="adj" fmla="val 11765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7200" y="3904488"/>
            <a:ext cx="54864" cy="621792"/>
          </a:xfrm>
          <a:prstGeom prst="rect">
            <a:avLst/>
          </a:prstGeom>
          <a:solidFill>
            <a:srgbClr val="66BB6A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05079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51560" y="39593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25–30 min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2286000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1051560" y="421538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 + review diff + commit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57200" y="4663440"/>
            <a:ext cx="8229600" cy="320040"/>
          </a:xfrm>
          <a:prstGeom prst="rect">
            <a:avLst>
              <a:gd name="adj" fmla="val 22857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E66D"/>
                </a:solidFill>
              </a:rPr>
              <a:t>Submit: </a:t>
            </a:r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</a:rPr>
              <a:t>Instruction file + git log showing atomic commit + 100-word reflection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30352"/>
          </a:xfrm>
          <a:prstGeom prst="rect">
            <a:avLst>
              <a:gd name="adj" fmla="val 13793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54864" cy="53035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68680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8686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before you code — the AI doesn’t know your codebase. YOU have to show it.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90472"/>
            <a:ext cx="8229600" cy="530352"/>
          </a:xfrm>
          <a:prstGeom prst="rect">
            <a:avLst>
              <a:gd name="adj" fmla="val 13793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90472"/>
            <a:ext cx="54864" cy="530352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90472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49047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“Don’t write code yet” is the most powerful AI instruction. Plans before code.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530352"/>
          </a:xfrm>
          <a:prstGeom prst="rect">
            <a:avLst>
              <a:gd name="adj" fmla="val 13793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12264"/>
            <a:ext cx="54864" cy="5303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12264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11226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incrementally — one step at a time, review each step before proceeding.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8229600" cy="530352"/>
          </a:xfrm>
          <a:prstGeom prst="rect">
            <a:avLst>
              <a:gd name="adj" fmla="val 13793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34056"/>
            <a:ext cx="54864" cy="5303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34056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734056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before commit — tests + diff review + atomic commits.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55848"/>
            <a:ext cx="8229600" cy="530352"/>
          </a:xfrm>
          <a:prstGeom prst="rect">
            <a:avLst>
              <a:gd name="adj" fmla="val 13793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55848"/>
            <a:ext cx="54864" cy="530352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355848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355848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files: write once, get consistent AI behavior in every conversation.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530352"/>
          </a:xfrm>
          <a:prstGeom prst="rect">
            <a:avLst>
              <a:gd name="adj" fmla="val 13793"/>
            </a:avLst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977640"/>
            <a:ext cx="54864" cy="5303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977640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0120" y="397764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feature per conversation — clean context = better code quality.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101 - Week 4: The Explore → Plan → Code → Verify Cycle</dc:title>
  <dc:subject>PptxGenJS Presentation</dc:subject>
  <dc:creator>Goker Ezberci</dc:creator>
  <cp:lastModifiedBy>Goker Ezberci</cp:lastModifiedBy>
  <cp:revision>1</cp:revision>
  <dcterms:created xsi:type="dcterms:W3CDTF">2026-02-20T02:11:53Z</dcterms:created>
  <dcterms:modified xsi:type="dcterms:W3CDTF">2026-02-20T02:11:53Z</dcterms:modified>
</cp:coreProperties>
</file>